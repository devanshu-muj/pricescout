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8" r:id="rId9"/>
    <p:sldId id="269" r:id="rId10"/>
    <p:sldId id="266" r:id="rId11"/>
    <p:sldId id="267"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18-02-2026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maven.apache.org/" TargetMode="External"/><Relationship Id="rId2" Type="http://schemas.openxmlformats.org/officeDocument/2006/relationships/hyperlink" Target="https://spring.io/projects/spring-boot" TargetMode="External"/><Relationship Id="rId1" Type="http://schemas.openxmlformats.org/officeDocument/2006/relationships/slideLayout" Target="../slideLayouts/slideLayout2.xml"/><Relationship Id="rId6" Type="http://schemas.openxmlformats.org/officeDocument/2006/relationships/hyperlink" Target="https://docs.github.com/" TargetMode="External"/><Relationship Id="rId5" Type="http://schemas.openxmlformats.org/officeDocument/2006/relationships/hyperlink" Target="https://www.thymeleaf.org/" TargetMode="External"/><Relationship Id="rId4" Type="http://schemas.openxmlformats.org/officeDocument/2006/relationships/hyperlink" Target="https://restfulapi.ne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lstStyle/>
          <a:p>
            <a:r>
              <a:rPr lang="en-IN" dirty="0" err="1"/>
              <a:t>PriceScout</a:t>
            </a:r>
            <a:endParaRPr lang="en-IN" dirty="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907544" cy="1222744"/>
          </a:xfrm>
        </p:spPr>
        <p:txBody>
          <a:bodyPr>
            <a:normAutofit/>
          </a:bodyPr>
          <a:lstStyle/>
          <a:p>
            <a:r>
              <a:rPr lang="en-IN" dirty="0"/>
              <a:t>Submitted By:</a:t>
            </a:r>
            <a:br>
              <a:rPr lang="en-IN" dirty="0"/>
            </a:br>
            <a:r>
              <a:rPr lang="en-IN" sz="1700" dirty="0"/>
              <a:t>Devanshu Sharma - 23FE10CSE00274</a:t>
            </a:r>
          </a:p>
          <a:p>
            <a:r>
              <a:rPr lang="en-IN" sz="1700" dirty="0"/>
              <a:t>Sudhanshu Mishra – 23FE10CSE00187</a:t>
            </a:r>
          </a:p>
          <a:p>
            <a:endParaRPr lang="en-IN" dirty="0"/>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Manu Shrivastava</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lstStyle/>
          <a:p>
            <a:pPr marL="0" indent="0">
              <a:buNone/>
            </a:pPr>
            <a:r>
              <a:rPr lang="en-US" dirty="0"/>
              <a:t>With the rapid growth of e-commerce, online shopping has become a common practice for consumers. Multiple platforms sell the same product but often at different prices, with varying discounts and offers. This creates confusion for users while selecting the best option. An efficient price comparison system can simplify this process by organizing product information from different sources in one place.</a:t>
            </a: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p:txBody>
          <a:bodyPr>
            <a:normAutofit fontScale="70000" lnSpcReduction="20000"/>
          </a:bodyPr>
          <a:lstStyle/>
          <a:p>
            <a:pPr marL="0" indent="0">
              <a:buNone/>
            </a:pPr>
            <a:endParaRPr lang="en-US" b="1" dirty="0"/>
          </a:p>
          <a:p>
            <a:r>
              <a:rPr lang="en-US" dirty="0"/>
              <a:t>Many online platforms like Google Shopping and </a:t>
            </a:r>
            <a:r>
              <a:rPr lang="en-US" dirty="0" err="1"/>
              <a:t>PriceDekho</a:t>
            </a:r>
            <a:r>
              <a:rPr lang="en-US" dirty="0"/>
              <a:t> provide price comparison services.</a:t>
            </a:r>
          </a:p>
          <a:p>
            <a:r>
              <a:rPr lang="en-US" dirty="0"/>
              <a:t>These platforms collect product data from multiple vendors.</a:t>
            </a:r>
          </a:p>
          <a:p>
            <a:r>
              <a:rPr lang="en-US" dirty="0"/>
              <a:t>Most systems depend on official APIs or business partnerships.</a:t>
            </a:r>
          </a:p>
          <a:p>
            <a:r>
              <a:rPr lang="en-US" dirty="0"/>
              <a:t>Real e-commerce websites restrict public web scraping.</a:t>
            </a:r>
          </a:p>
          <a:p>
            <a:pPr marL="0" indent="0">
              <a:buNone/>
            </a:pPr>
            <a:br>
              <a:rPr lang="en-US" dirty="0"/>
            </a:br>
            <a:endParaRPr lang="en-US" dirty="0"/>
          </a:p>
          <a:p>
            <a:pPr marL="0" indent="0">
              <a:buNone/>
            </a:pPr>
            <a:endParaRPr lang="en-US" b="1" dirty="0"/>
          </a:p>
          <a:p>
            <a:r>
              <a:rPr lang="en-US" dirty="0"/>
              <a:t>Academic projects often use web scraping techniques for comparison.</a:t>
            </a:r>
          </a:p>
          <a:p>
            <a:r>
              <a:rPr lang="en-US" dirty="0"/>
              <a:t>However, scraping real websites is legally and technically restricted.</a:t>
            </a:r>
          </a:p>
          <a:p>
            <a:r>
              <a:rPr lang="en-US" dirty="0"/>
              <a:t>Modern systems use REST APIs for structured data exchange.</a:t>
            </a:r>
          </a:p>
          <a:p>
            <a:r>
              <a:rPr lang="en-US" dirty="0"/>
              <a:t>Therefore, a mock API-based approach is more practical for academic implementation.</a:t>
            </a:r>
          </a:p>
          <a:p>
            <a:pPr marL="0" indent="0">
              <a:buNone/>
            </a:pPr>
            <a:endParaRPr lang="en-IN" dirty="0"/>
          </a:p>
        </p:txBody>
      </p:sp>
    </p:spTree>
    <p:extLst>
      <p:ext uri="{BB962C8B-B14F-4D97-AF65-F5344CB8AC3E}">
        <p14:creationId xmlns:p14="http://schemas.microsoft.com/office/powerpoint/2010/main" val="3103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normAutofit/>
          </a:bodyPr>
          <a:lstStyle/>
          <a:p>
            <a:pPr marL="0" indent="0">
              <a:buNone/>
            </a:pPr>
            <a:r>
              <a:rPr lang="en-US" sz="2400" dirty="0"/>
              <a:t>Online shopping platforms display different prices, offers, and discounts for the same product, making it difficult for users to identify the best deal. Manually visiting multiple websites is time-consuming and inefficient. There is a need for a system that simplifies price comparison in a structured and reliable manner.</a:t>
            </a:r>
            <a:endParaRPr lang="en-IN" sz="2400" dirty="0"/>
          </a:p>
        </p:txBody>
      </p:sp>
    </p:spTree>
    <p:extLst>
      <p:ext uri="{BB962C8B-B14F-4D97-AF65-F5344CB8AC3E}">
        <p14:creationId xmlns:p14="http://schemas.microsoft.com/office/powerpoint/2010/main" val="2374707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5B49BAB7-7082-5B04-9AB1-01C4D1921C41}"/>
              </a:ext>
            </a:extLst>
          </p:cNvPr>
          <p:cNvSpPr>
            <a:spLocks noGrp="1" noChangeArrowheads="1"/>
          </p:cNvSpPr>
          <p:nvPr>
            <p:ph idx="1"/>
          </p:nvPr>
        </p:nvSpPr>
        <p:spPr bwMode="auto">
          <a:xfrm>
            <a:off x="838200" y="1769918"/>
            <a:ext cx="10178427"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develop a centralized system that compares product prices from multiple vendors.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provide users with clear and structured information about prices, offers, and reviews.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identify and display the best available deal for a selected product.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reduce the time and effort required for manual price comparison.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47097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Proposed Methodology </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p:txBody>
          <a:bodyPr/>
          <a:lstStyle/>
          <a:p>
            <a:r>
              <a:rPr lang="en-US" sz="2400" b="1" dirty="0"/>
              <a:t>System Architecture</a:t>
            </a:r>
          </a:p>
          <a:p>
            <a:r>
              <a:rPr lang="en-US" sz="2400" dirty="0"/>
              <a:t>The system is developed using </a:t>
            </a:r>
            <a:r>
              <a:rPr lang="en-US" sz="2400" b="1" dirty="0"/>
              <a:t>Spring Boot framework</a:t>
            </a:r>
            <a:r>
              <a:rPr lang="en-US" sz="2400" dirty="0"/>
              <a:t> following MVC architecture.</a:t>
            </a:r>
          </a:p>
          <a:p>
            <a:r>
              <a:rPr lang="en-US" sz="2400" dirty="0"/>
              <a:t>It consists of Controller, Repository, and Entity layers.</a:t>
            </a:r>
          </a:p>
          <a:p>
            <a:r>
              <a:rPr lang="en-US" sz="2400" dirty="0"/>
              <a:t>Product data is managed using JPA (Java Persistence API).</a:t>
            </a:r>
          </a:p>
          <a:p>
            <a:r>
              <a:rPr lang="en-US" sz="2400" dirty="0"/>
              <a:t>REST APIs are used for communication between vendor modules and the main system.</a:t>
            </a:r>
          </a:p>
          <a:p>
            <a:r>
              <a:rPr lang="en-US" sz="2400" dirty="0"/>
              <a:t>Frontend is developed using HTML, CSS, and </a:t>
            </a:r>
            <a:r>
              <a:rPr lang="en-US" sz="2400" dirty="0" err="1"/>
              <a:t>Thymeleaf</a:t>
            </a:r>
            <a:r>
              <a:rPr lang="en-US" sz="2400" dirty="0"/>
              <a:t> templates.</a:t>
            </a:r>
          </a:p>
          <a:p>
            <a:pPr marL="0" indent="0">
              <a:buNone/>
            </a:pPr>
            <a:endParaRPr lang="en-IN" dirty="0"/>
          </a:p>
        </p:txBody>
      </p:sp>
    </p:spTree>
    <p:extLst>
      <p:ext uri="{BB962C8B-B14F-4D97-AF65-F5344CB8AC3E}">
        <p14:creationId xmlns:p14="http://schemas.microsoft.com/office/powerpoint/2010/main" val="1077724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6F7232-94B3-0009-026E-10E578D945E6}"/>
              </a:ext>
            </a:extLst>
          </p:cNvPr>
          <p:cNvSpPr txBox="1"/>
          <p:nvPr/>
        </p:nvSpPr>
        <p:spPr>
          <a:xfrm>
            <a:off x="521109" y="387807"/>
            <a:ext cx="9429135" cy="3785652"/>
          </a:xfrm>
          <a:prstGeom prst="rect">
            <a:avLst/>
          </a:prstGeom>
          <a:noFill/>
        </p:spPr>
        <p:txBody>
          <a:bodyPr wrap="square">
            <a:spAutoFit/>
          </a:bodyPr>
          <a:lstStyle/>
          <a:p>
            <a:pPr>
              <a:buNone/>
            </a:pPr>
            <a:endParaRPr lang="en-US" sz="2400" b="1" dirty="0"/>
          </a:p>
          <a:p>
            <a:pPr>
              <a:buNone/>
            </a:pPr>
            <a:endParaRPr lang="en-US" sz="2400" b="1" dirty="0"/>
          </a:p>
          <a:p>
            <a:pPr>
              <a:buNone/>
            </a:pPr>
            <a:r>
              <a:rPr lang="en-US" sz="2400" b="1" dirty="0"/>
              <a:t>Vendor Simulation and Data Flow</a:t>
            </a:r>
          </a:p>
          <a:p>
            <a:pPr>
              <a:buFont typeface="Arial" panose="020B0604020202020204" pitchFamily="34" charset="0"/>
              <a:buChar char="•"/>
            </a:pPr>
            <a:r>
              <a:rPr lang="en-US" sz="2400" dirty="0"/>
              <a:t>Multiple mock vendor pages (</a:t>
            </a:r>
            <a:r>
              <a:rPr lang="en-US" sz="2400" dirty="0" err="1"/>
              <a:t>ElectroStore</a:t>
            </a:r>
            <a:r>
              <a:rPr lang="en-US" sz="2400" dirty="0"/>
              <a:t>, </a:t>
            </a:r>
            <a:r>
              <a:rPr lang="en-US" sz="2400" dirty="0" err="1"/>
              <a:t>GadgetHub</a:t>
            </a:r>
            <a:r>
              <a:rPr lang="en-US" sz="2400" dirty="0"/>
              <a:t>, </a:t>
            </a:r>
            <a:r>
              <a:rPr lang="en-US" sz="2400" dirty="0" err="1"/>
              <a:t>QuickShop</a:t>
            </a:r>
            <a:r>
              <a:rPr lang="en-US" sz="2400" dirty="0"/>
              <a:t>) are created.</a:t>
            </a:r>
          </a:p>
          <a:p>
            <a:pPr>
              <a:buFont typeface="Arial" panose="020B0604020202020204" pitchFamily="34" charset="0"/>
              <a:buChar char="•"/>
            </a:pPr>
            <a:r>
              <a:rPr lang="en-US" sz="2400" dirty="0"/>
              <a:t>Each vendor exposes product data through REST API endpoints.</a:t>
            </a:r>
          </a:p>
          <a:p>
            <a:pPr>
              <a:buFont typeface="Arial" panose="020B0604020202020204" pitchFamily="34" charset="0"/>
              <a:buChar char="•"/>
            </a:pPr>
            <a:r>
              <a:rPr lang="en-US" sz="2400" dirty="0"/>
              <a:t>The main controller sends requests to vendor APIs to fetch product details.</a:t>
            </a:r>
          </a:p>
          <a:p>
            <a:pPr>
              <a:buFont typeface="Arial" panose="020B0604020202020204" pitchFamily="34" charset="0"/>
              <a:buChar char="•"/>
            </a:pPr>
            <a:r>
              <a:rPr lang="en-US" sz="2400" dirty="0"/>
              <a:t>The system retrieves price, offers, and review information.</a:t>
            </a:r>
          </a:p>
          <a:p>
            <a:pPr>
              <a:buFont typeface="Arial" panose="020B0604020202020204" pitchFamily="34" charset="0"/>
              <a:buChar char="•"/>
            </a:pPr>
            <a:r>
              <a:rPr lang="en-US" sz="2400" dirty="0"/>
              <a:t>Data from different vendors is collected in structured format.</a:t>
            </a:r>
          </a:p>
        </p:txBody>
      </p:sp>
    </p:spTree>
    <p:extLst>
      <p:ext uri="{BB962C8B-B14F-4D97-AF65-F5344CB8AC3E}">
        <p14:creationId xmlns:p14="http://schemas.microsoft.com/office/powerpoint/2010/main" val="3821683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54B6EE-D6C3-B274-BE21-1D4977AB2BDA}"/>
              </a:ext>
            </a:extLst>
          </p:cNvPr>
          <p:cNvSpPr txBox="1"/>
          <p:nvPr/>
        </p:nvSpPr>
        <p:spPr>
          <a:xfrm>
            <a:off x="727587" y="1205580"/>
            <a:ext cx="9016182" cy="3046988"/>
          </a:xfrm>
          <a:prstGeom prst="rect">
            <a:avLst/>
          </a:prstGeom>
          <a:noFill/>
        </p:spPr>
        <p:txBody>
          <a:bodyPr wrap="square">
            <a:spAutoFit/>
          </a:bodyPr>
          <a:lstStyle/>
          <a:p>
            <a:pPr>
              <a:buNone/>
            </a:pPr>
            <a:r>
              <a:rPr lang="en-US" sz="2400" b="1" dirty="0"/>
              <a:t>Comparison and Output Generation</a:t>
            </a:r>
          </a:p>
          <a:p>
            <a:pPr>
              <a:buFont typeface="Arial" panose="020B0604020202020204" pitchFamily="34" charset="0"/>
              <a:buChar char="•"/>
            </a:pPr>
            <a:r>
              <a:rPr lang="en-US" sz="2400" dirty="0"/>
              <a:t>Retrieved product data is processed and compared based on price.</a:t>
            </a:r>
          </a:p>
          <a:p>
            <a:pPr>
              <a:buFont typeface="Arial" panose="020B0604020202020204" pitchFamily="34" charset="0"/>
              <a:buChar char="•"/>
            </a:pPr>
            <a:r>
              <a:rPr lang="en-US" sz="2400" dirty="0"/>
              <a:t>The system identifies the lowest price among vendors.</a:t>
            </a:r>
          </a:p>
          <a:p>
            <a:pPr>
              <a:buFont typeface="Arial" panose="020B0604020202020204" pitchFamily="34" charset="0"/>
              <a:buChar char="•"/>
            </a:pPr>
            <a:r>
              <a:rPr lang="en-US" sz="2400" dirty="0"/>
              <a:t>Results are displayed in a user-friendly interface.</a:t>
            </a:r>
          </a:p>
          <a:p>
            <a:pPr>
              <a:buFont typeface="Arial" panose="020B0604020202020204" pitchFamily="34" charset="0"/>
              <a:buChar char="•"/>
            </a:pPr>
            <a:r>
              <a:rPr lang="en-US" sz="2400" dirty="0"/>
              <a:t>The best deal is highlighted for easier decision-making.</a:t>
            </a:r>
          </a:p>
          <a:p>
            <a:pPr>
              <a:buFont typeface="Arial" panose="020B0604020202020204" pitchFamily="34" charset="0"/>
              <a:buChar char="•"/>
            </a:pPr>
            <a:r>
              <a:rPr lang="en-US" sz="2400" dirty="0"/>
              <a:t>The application runs locally and is version-controlled using GitHub.</a:t>
            </a:r>
          </a:p>
        </p:txBody>
      </p:sp>
    </p:spTree>
    <p:extLst>
      <p:ext uri="{BB962C8B-B14F-4D97-AF65-F5344CB8AC3E}">
        <p14:creationId xmlns:p14="http://schemas.microsoft.com/office/powerpoint/2010/main" val="2650150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p:txBody>
          <a:bodyPr/>
          <a:lstStyle/>
          <a:p>
            <a:r>
              <a:rPr lang="en-IN" dirty="0"/>
              <a:t>Result </a:t>
            </a:r>
          </a:p>
        </p:txBody>
      </p:sp>
      <p:pic>
        <p:nvPicPr>
          <p:cNvPr id="5" name="Content Placeholder 4">
            <a:extLst>
              <a:ext uri="{FF2B5EF4-FFF2-40B4-BE49-F238E27FC236}">
                <a16:creationId xmlns:a16="http://schemas.microsoft.com/office/drawing/2014/main" id="{5943D439-03FC-EFFD-4173-0C6820FA7A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9019" y="1524000"/>
            <a:ext cx="10464781" cy="4978766"/>
          </a:xfrm>
          <a:prstGeom prst="rect">
            <a:avLst/>
          </a:prstGeom>
        </p:spPr>
      </p:pic>
    </p:spTree>
    <p:extLst>
      <p:ext uri="{BB962C8B-B14F-4D97-AF65-F5344CB8AC3E}">
        <p14:creationId xmlns:p14="http://schemas.microsoft.com/office/powerpoint/2010/main" val="3645671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lstStyle/>
          <a:p>
            <a:r>
              <a:rPr lang="en-US" sz="2200" dirty="0"/>
              <a:t>A working prototype of the </a:t>
            </a:r>
            <a:r>
              <a:rPr lang="en-US" sz="2200" dirty="0" err="1"/>
              <a:t>PriceScout</a:t>
            </a:r>
            <a:r>
              <a:rPr lang="en-US" sz="2200" dirty="0"/>
              <a:t> price comparison system has been successfully developed and tested locally during the current semester.</a:t>
            </a:r>
          </a:p>
          <a:p>
            <a:r>
              <a:rPr lang="en-US" sz="2200" dirty="0"/>
              <a:t>Multiple mock vendor APIs were integrated, and dynamic price comparison functionality was achieved.</a:t>
            </a:r>
          </a:p>
          <a:p>
            <a:r>
              <a:rPr lang="en-US" sz="2200" b="1" dirty="0"/>
              <a:t>Achievement Status:</a:t>
            </a:r>
            <a:endParaRPr lang="en-US" sz="2200" dirty="0"/>
          </a:p>
          <a:p>
            <a:r>
              <a:rPr lang="en-US" sz="2200" b="1" dirty="0"/>
              <a:t>Research Paper:</a:t>
            </a:r>
            <a:r>
              <a:rPr lang="en-US" sz="2200" dirty="0"/>
              <a:t> Not Drafted </a:t>
            </a:r>
          </a:p>
          <a:p>
            <a:r>
              <a:rPr lang="en-US" sz="2200" b="1" dirty="0"/>
              <a:t>Patent:</a:t>
            </a:r>
            <a:r>
              <a:rPr lang="en-US" sz="2200" dirty="0"/>
              <a:t> Not Applied</a:t>
            </a:r>
          </a:p>
          <a:p>
            <a:r>
              <a:rPr lang="en-US" sz="2200" b="1" dirty="0"/>
              <a:t>Copyright:</a:t>
            </a:r>
            <a:r>
              <a:rPr lang="en-US" sz="2200" dirty="0"/>
              <a:t> Not Applied</a:t>
            </a:r>
          </a:p>
          <a:p>
            <a:r>
              <a:rPr lang="en-US" sz="2200" b="1" dirty="0"/>
              <a:t>Real-Time Deployment:</a:t>
            </a:r>
            <a:r>
              <a:rPr lang="en-US" sz="2200" dirty="0"/>
              <a:t> Partially Completed (Successfully deployed and tested in local environment)</a:t>
            </a:r>
          </a:p>
          <a:p>
            <a:pPr marL="0" indent="0">
              <a:buNone/>
            </a:pPr>
            <a:endParaRPr lang="en-US" sz="1600" dirty="0"/>
          </a:p>
        </p:txBody>
      </p:sp>
    </p:spTree>
    <p:extLst>
      <p:ext uri="{BB962C8B-B14F-4D97-AF65-F5344CB8AC3E}">
        <p14:creationId xmlns:p14="http://schemas.microsoft.com/office/powerpoint/2010/main" val="2154956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4" name="Rectangle 1">
            <a:extLst>
              <a:ext uri="{FF2B5EF4-FFF2-40B4-BE49-F238E27FC236}">
                <a16:creationId xmlns:a16="http://schemas.microsoft.com/office/drawing/2014/main" id="{63BFD8C3-BFFD-AF58-1FBF-6EF630E2567E}"/>
              </a:ext>
            </a:extLst>
          </p:cNvPr>
          <p:cNvSpPr>
            <a:spLocks noGrp="1" noChangeArrowheads="1"/>
          </p:cNvSpPr>
          <p:nvPr>
            <p:ph idx="1"/>
          </p:nvPr>
        </p:nvSpPr>
        <p:spPr bwMode="auto">
          <a:xfrm>
            <a:off x="838200" y="2016139"/>
            <a:ext cx="776270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Spring Boot Official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2"/>
              </a:rPr>
              <a:t>https://spring.io/projects/spring-boot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Apache Maven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https://maven.apache.org/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REST API Design Guidelines – </a:t>
            </a: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https://restfulapi.net/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Thymeleaf</a:t>
            </a:r>
            <a:r>
              <a:rPr kumimoji="0" lang="en-US" altLang="en-US" sz="1800" b="0" i="0" u="none" strike="noStrike" cap="none" normalizeH="0" baseline="0" dirty="0">
                <a:ln>
                  <a:noFill/>
                </a:ln>
                <a:solidFill>
                  <a:schemeClr val="tx1"/>
                </a:solidFill>
                <a:effectLst/>
                <a:latin typeface="Arial" panose="020B0604020202020204" pitchFamily="34" charset="0"/>
              </a:rPr>
              <a:t>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https://www.thymeleaf.org/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Git &amp; GitHub Documentation – </a:t>
            </a: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https://docs.github.com/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4917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616</Words>
  <Application>Microsoft Office PowerPoint</Application>
  <PresentationFormat>Widescreen</PresentationFormat>
  <Paragraphs>87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Wingdings</vt:lpstr>
      <vt:lpstr>Office Theme</vt:lpstr>
      <vt:lpstr>PriceScout</vt:lpstr>
      <vt:lpstr>Outline</vt:lpstr>
      <vt:lpstr>Introduction</vt:lpstr>
      <vt:lpstr>Literature Review</vt:lpstr>
      <vt:lpstr>Problem Statement</vt:lpstr>
      <vt:lpstr>Objectives</vt:lpstr>
      <vt:lpstr>Proposed Methodology </vt:lpstr>
      <vt:lpstr>PowerPoint Presentation</vt:lpstr>
      <vt:lpstr>PowerPoint Presentation</vt:lpstr>
      <vt:lpstr>Result </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Devanshu Sharma</cp:lastModifiedBy>
  <cp:revision>19</cp:revision>
  <dcterms:created xsi:type="dcterms:W3CDTF">2025-09-29T05:03:41Z</dcterms:created>
  <dcterms:modified xsi:type="dcterms:W3CDTF">2026-02-18T03:52:32Z</dcterms:modified>
</cp:coreProperties>
</file>